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84DF81-A96E-4394-A973-149FB8F260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870EAD-021B-4CCE-9007-ADA287CA67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0AB67DF-433B-4CAB-A170-8EA72FD08C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BCC92FC-4B44-4D4A-BF93-83B67402D9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3D63545-6DF2-4E7C-A882-90A811B8E3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35B89CB-7D48-42C9-8A27-19231B3EEA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B4EFEFB-615F-4C4F-B2C7-58FDF7A1B8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25D868D-7A44-4241-8949-14B995084C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7349D8-F9B5-42DE-8D51-F61AFE5341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7BE4B73-903C-4C86-8553-1ACF28581F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0EC112C-C277-41B3-AF05-52903DD921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43F759-A271-4DB1-8288-64416A01B5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39EEC9-2DDB-4BBE-B08F-8CD0E3CCF4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6F10A9-2E31-42B6-AA01-FA73BF300E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C86A33-0435-45E1-8685-7486B7E565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D32366-1662-42AB-8CD6-27BF57C9E8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B6734F-C646-4945-BC8D-372CE66364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8BBA02-B55D-4793-BE37-3EC3CD11F4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39EF68-4BF2-4C4E-86A2-ECDBBEF442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7214A5-8246-408C-A1FB-F12C34870A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569EAC-9AC2-429A-8B8F-56A4C4C9A1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B9E48D-5A2B-4DA3-9538-49E0AD030C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36000" y="3600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91440"/>
            <a:ext cx="12191400" cy="4536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77240" y="960120"/>
            <a:ext cx="8229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bbf24"/>
                </a:solidFill>
                <a:latin typeface="Segoe UI"/>
              </a:rPr>
              <a:t>DATA VISUALIZATION · STREAMLIT + PLOTLY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77240" y="1371600"/>
            <a:ext cx="1060668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4600" spc="-1" strike="noStrike">
                <a:solidFill>
                  <a:srgbClr val="f1f5f9"/>
                </a:solidFill>
                <a:latin typeface="Segoe UI"/>
              </a:rPr>
              <a:t>WORLD'S BIGGEST 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2000"/>
              </a:lnSpc>
            </a:pPr>
            <a:r>
              <a:rPr b="1" lang="en-US" sz="4600" spc="-1" strike="noStrike">
                <a:solidFill>
                  <a:srgbClr val="ef4444"/>
                </a:solidFill>
                <a:latin typeface="Segoe UI"/>
              </a:rPr>
              <a:t>DATA BREACHES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" name="Connector 6"/>
          <p:cNvCxnSpPr/>
          <p:nvPr/>
        </p:nvCxnSpPr>
        <p:spPr>
          <a:xfrm>
            <a:off x="822960" y="3246120"/>
            <a:ext cx="2012040" cy="360"/>
          </a:xfrm>
          <a:prstGeom prst="straightConnector1">
            <a:avLst/>
          </a:prstGeom>
          <a:ln w="44450">
            <a:solidFill>
              <a:srgbClr val="2dd4bf"/>
            </a:solidFill>
            <a:round/>
          </a:ln>
        </p:spPr>
      </p:cxnSp>
      <p:sp>
        <p:nvSpPr>
          <p:cNvPr id="73" name="TextBox 7"/>
          <p:cNvSpPr/>
          <p:nvPr/>
        </p:nvSpPr>
        <p:spPr>
          <a:xfrm>
            <a:off x="777240" y="3520440"/>
            <a:ext cx="102409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700" spc="-1" strike="noStrike">
                <a:solidFill>
                  <a:srgbClr val="9ca9bd"/>
                </a:solidFill>
                <a:latin typeface="Segoe UI"/>
              </a:rPr>
              <a:t>An interactive dashboard that turns 20+ years of the world's largest data breaches into one question at a time — sectors, methods, countries, and the stories behind them.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777240" y="4663440"/>
            <a:ext cx="2614680" cy="12340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777240" y="4663440"/>
            <a:ext cx="63720" cy="12340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1014840" y="4809600"/>
            <a:ext cx="22309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1f5f9"/>
                </a:solidFill>
                <a:latin typeface="Segoe UI"/>
              </a:rPr>
              <a:t>538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1014840" y="530352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9ca9bd"/>
                </a:solidFill>
                <a:latin typeface="Segoe UI"/>
              </a:rPr>
              <a:t>BREACHES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1014840" y="555048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f4444"/>
                </a:solidFill>
                <a:latin typeface="Segoe UI"/>
              </a:rPr>
              <a:t>2004 – 2025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13"/>
          <p:cNvSpPr/>
          <p:nvPr/>
        </p:nvSpPr>
        <p:spPr>
          <a:xfrm>
            <a:off x="3557160" y="4663440"/>
            <a:ext cx="2614680" cy="12340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3557160" y="4663440"/>
            <a:ext cx="63720" cy="123408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3794760" y="4809600"/>
            <a:ext cx="22309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1f5f9"/>
                </a:solidFill>
                <a:latin typeface="Segoe UI"/>
              </a:rPr>
              <a:t>18.7B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3794760" y="530352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9ca9bd"/>
                </a:solidFill>
                <a:latin typeface="Segoe UI"/>
              </a:rPr>
              <a:t>RECORDS LOST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3794760" y="555048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97316"/>
                </a:solidFill>
                <a:latin typeface="Segoe UI"/>
              </a:rPr>
              <a:t>≈ </a:t>
            </a:r>
            <a:r>
              <a:rPr b="1" lang="en-US" sz="1050" spc="-1" strike="noStrike">
                <a:solidFill>
                  <a:srgbClr val="f97316"/>
                </a:solidFill>
                <a:latin typeface="Segoe UI"/>
              </a:rPr>
              <a:t>1 in 5 people*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18"/>
          <p:cNvSpPr/>
          <p:nvPr/>
        </p:nvSpPr>
        <p:spPr>
          <a:xfrm>
            <a:off x="6336720" y="4663440"/>
            <a:ext cx="2614680" cy="12340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ounded Rectangle 19"/>
          <p:cNvSpPr/>
          <p:nvPr/>
        </p:nvSpPr>
        <p:spPr>
          <a:xfrm>
            <a:off x="6336720" y="4663440"/>
            <a:ext cx="63720" cy="12340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6574680" y="4809600"/>
            <a:ext cx="22309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1f5f9"/>
                </a:solidFill>
                <a:latin typeface="Segoe UI"/>
              </a:rPr>
              <a:t>14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6574680" y="530352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9ca9bd"/>
                </a:solidFill>
                <a:latin typeface="Segoe UI"/>
              </a:rPr>
              <a:t>SECTORS HIT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2"/>
          <p:cNvSpPr/>
          <p:nvPr/>
        </p:nvSpPr>
        <p:spPr>
          <a:xfrm>
            <a:off x="6574680" y="555048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dd4bf"/>
                </a:solidFill>
                <a:latin typeface="Segoe UI"/>
              </a:rPr>
              <a:t>25-method breakdown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23"/>
          <p:cNvSpPr/>
          <p:nvPr/>
        </p:nvSpPr>
        <p:spPr>
          <a:xfrm>
            <a:off x="9116640" y="4663440"/>
            <a:ext cx="2614680" cy="12340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ounded Rectangle 24"/>
          <p:cNvSpPr/>
          <p:nvPr/>
        </p:nvSpPr>
        <p:spPr>
          <a:xfrm>
            <a:off x="9116640" y="4663440"/>
            <a:ext cx="63720" cy="12340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5"/>
          <p:cNvSpPr/>
          <p:nvPr/>
        </p:nvSpPr>
        <p:spPr>
          <a:xfrm>
            <a:off x="9354240" y="4809600"/>
            <a:ext cx="22309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1f5f9"/>
                </a:solidFill>
                <a:latin typeface="Segoe UI"/>
              </a:rPr>
              <a:t>70%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6"/>
          <p:cNvSpPr/>
          <p:nvPr/>
        </p:nvSpPr>
        <p:spPr>
          <a:xfrm>
            <a:off x="9354240" y="530352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9ca9bd"/>
                </a:solidFill>
                <a:latin typeface="Segoe UI"/>
              </a:rPr>
              <a:t>WERE 'HACKED'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7"/>
          <p:cNvSpPr/>
          <p:nvPr/>
        </p:nvSpPr>
        <p:spPr>
          <a:xfrm>
            <a:off x="9354240" y="5550480"/>
            <a:ext cx="2230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a78bfa"/>
                </a:solidFill>
                <a:latin typeface="Segoe UI"/>
              </a:rPr>
              <a:t>top breach method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8"/>
          <p:cNvSpPr/>
          <p:nvPr/>
        </p:nvSpPr>
        <p:spPr>
          <a:xfrm>
            <a:off x="777240" y="6172200"/>
            <a:ext cx="10515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e6e88"/>
                </a:solidFill>
                <a:latin typeface="Segoe UI"/>
              </a:rPr>
              <a:t>*vs. world population, Information is Beautiful · IIB Data Breaches &amp; Hacks dataset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"/>
          <p:cNvSpPr/>
          <p:nvPr/>
        </p:nvSpPr>
        <p:spPr>
          <a:xfrm>
            <a:off x="731880" y="2876040"/>
            <a:ext cx="566892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700" spc="-1" strike="noStrike">
                <a:solidFill>
                  <a:srgbClr val="9ca9bd"/>
                </a:solidFill>
                <a:latin typeface="Segoe UI"/>
              </a:rPr>
              <a:t>By Héctor D. Ochoa Fernández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THE DATASET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One curated, journalistic collection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9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100" name="TextBox 5"/>
          <p:cNvSpPr/>
          <p:nvPr/>
        </p:nvSpPr>
        <p:spPr>
          <a:xfrm>
            <a:off x="548640" y="1600200"/>
            <a:ext cx="6674760" cy="30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dd4bf"/>
                </a:solidFill>
                <a:latin typeface="Segoe UI"/>
              </a:rPr>
              <a:t>Where it comes from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1f5f9"/>
                </a:solidFill>
                <a:latin typeface="Segoe UI"/>
              </a:rPr>
              <a:t>Information is Beautiful — </a:t>
            </a:r>
            <a:r>
              <a:rPr b="1" lang="en-US" sz="1400" spc="-1" strike="noStrike">
                <a:solidFill>
                  <a:srgbClr val="f1f5f9"/>
                </a:solidFill>
                <a:latin typeface="Segoe UI"/>
              </a:rPr>
              <a:t>World's Biggest Data Breaches &amp; Hacks</a:t>
            </a:r>
            <a:r>
              <a:rPr b="0" lang="en-US" sz="1400" spc="-1" strike="noStrike">
                <a:solidFill>
                  <a:srgbClr val="f1f5f9"/>
                </a:solidFill>
                <a:latin typeface="Segoe UI"/>
              </a:rPr>
              <a:t>, the well-known curated collection. The bundled version is the latest release.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0" lang="en-US" sz="800" spc="-1" strike="noStrike">
                <a:solidFill>
                  <a:srgbClr val="f1f5f9"/>
                </a:solidFill>
                <a:latin typeface="Segoe UI"/>
              </a:rPr>
              <a:t>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dd4bf"/>
                </a:solidFill>
                <a:latin typeface="Segoe UI"/>
              </a:rPr>
              <a:t>What a row means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1f5f9"/>
                </a:solidFill>
                <a:latin typeface="Segoe UI"/>
              </a:rPr>
              <a:t>Each row is </a:t>
            </a:r>
            <a:r>
              <a:rPr b="1" lang="en-US" sz="1400" spc="-1" strike="noStrike">
                <a:solidFill>
                  <a:srgbClr val="f1f5f9"/>
                </a:solidFill>
                <a:latin typeface="Segoe UI"/>
              </a:rPr>
              <a:t>one breach</a:t>
            </a:r>
            <a:r>
              <a:rPr b="0" lang="en-US" sz="1400" spc="-1" strike="noStrike">
                <a:solidFill>
                  <a:srgbClr val="f1f5f9"/>
                </a:solidFill>
                <a:latin typeface="Segoe UI"/>
              </a:rPr>
              <a:t>: an organisation, how many records were lost, when it happened, which sector it belongs to, how it was breached, and how sensitive the exposed data was.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0" lang="en-US" sz="800" spc="-1" strike="noStrike">
                <a:solidFill>
                  <a:srgbClr val="f1f5f9"/>
                </a:solidFill>
                <a:latin typeface="Segoe UI"/>
              </a:rPr>
              <a:t>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dd4bf"/>
                </a:solidFill>
                <a:latin typeface="Segoe UI"/>
              </a:rPr>
              <a:t>What it is not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1f5f9"/>
                </a:solidFill>
                <a:latin typeface="Segoe UI"/>
              </a:rPr>
              <a:t>A journalistic collection of </a:t>
            </a:r>
            <a:r>
              <a:rPr b="1" lang="en-US" sz="1400" spc="-1" strike="noStrike">
                <a:solidFill>
                  <a:srgbClr val="f1f5f9"/>
                </a:solidFill>
                <a:latin typeface="Segoe UI"/>
              </a:rPr>
              <a:t>big, publicly-reported incidents</a:t>
            </a:r>
            <a:r>
              <a:rPr b="0" lang="en-US" sz="1400" spc="-1" strike="noStrike">
                <a:solidFill>
                  <a:srgbClr val="f1f5f9"/>
                </a:solidFill>
                <a:latin typeface="Segoe UI"/>
              </a:rPr>
              <a:t> — not a government register of every breach ever.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6"/>
          <p:cNvSpPr/>
          <p:nvPr/>
        </p:nvSpPr>
        <p:spPr>
          <a:xfrm>
            <a:off x="7498080" y="1600200"/>
            <a:ext cx="4160160" cy="448020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7772400" y="1783080"/>
            <a:ext cx="3657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FIELDS PER BREACH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7772400" y="2240280"/>
            <a:ext cx="3565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organization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7772400" y="2477880"/>
            <a:ext cx="356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who got hit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7772400" y="2880360"/>
            <a:ext cx="3565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records_lost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7772400" y="3117960"/>
            <a:ext cx="356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records exposed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7772400" y="3520440"/>
            <a:ext cx="3565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year · date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7772400" y="3758040"/>
            <a:ext cx="356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when it happened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7772400" y="4160520"/>
            <a:ext cx="3565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sector · method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7772400" y="4398120"/>
            <a:ext cx="356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industry · how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7772400" y="4800600"/>
            <a:ext cx="3565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data_sensitivity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7772400" y="5038200"/>
            <a:ext cx="356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1–5 severity scale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8"/>
          <p:cNvSpPr/>
          <p:nvPr/>
        </p:nvSpPr>
        <p:spPr>
          <a:xfrm>
            <a:off x="7772400" y="5440680"/>
            <a:ext cx="3565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story + sources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9"/>
          <p:cNvSpPr/>
          <p:nvPr/>
        </p:nvSpPr>
        <p:spPr>
          <a:xfrm>
            <a:off x="7772400" y="5678280"/>
            <a:ext cx="356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narrative · links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20"/>
          <p:cNvSpPr/>
          <p:nvPr/>
        </p:nvSpPr>
        <p:spPr>
          <a:xfrm>
            <a:off x="7772400" y="6126480"/>
            <a:ext cx="3611520" cy="18000"/>
          </a:xfrm>
          <a:prstGeom prst="rect">
            <a:avLst/>
          </a:prstGeom>
          <a:solidFill>
            <a:srgbClr val="2432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1"/>
          <p:cNvSpPr/>
          <p:nvPr/>
        </p:nvSpPr>
        <p:spPr>
          <a:xfrm>
            <a:off x="7772400" y="6282000"/>
            <a:ext cx="36572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5e6e88"/>
                </a:solidFill>
                <a:latin typeface="Segoe UI"/>
              </a:rPr>
              <a:t>538 breaches · 2004 → 2025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3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DATA PREP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From a messy spreadsheet to clean data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2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123" name="Rounded Rectangle 5"/>
          <p:cNvSpPr/>
          <p:nvPr/>
        </p:nvSpPr>
        <p:spPr>
          <a:xfrm>
            <a:off x="548640" y="1828800"/>
            <a:ext cx="2669760" cy="3291480"/>
          </a:xfrm>
          <a:prstGeom prst="roundRect">
            <a:avLst>
              <a:gd name="adj" fmla="val 7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ounded Rectangle 6"/>
          <p:cNvSpPr/>
          <p:nvPr/>
        </p:nvSpPr>
        <p:spPr>
          <a:xfrm>
            <a:off x="548640" y="1828800"/>
            <a:ext cx="2669760" cy="820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768240" y="2103120"/>
            <a:ext cx="223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2dd4bf"/>
                </a:solidFill>
                <a:latin typeface="Segoe UI"/>
              </a:rPr>
              <a:t>01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768240" y="2697480"/>
            <a:ext cx="2230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f1f5f9"/>
                </a:solidFill>
                <a:latin typeface="Segoe UI"/>
              </a:rPr>
              <a:t>Normalize columns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768240" y="3429000"/>
            <a:ext cx="2230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Consistent snake_case names; stray Excel legend and spacer rows dropped.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ounded Rectangle 10"/>
          <p:cNvSpPr/>
          <p:nvPr/>
        </p:nvSpPr>
        <p:spPr>
          <a:xfrm>
            <a:off x="3346560" y="1828800"/>
            <a:ext cx="2669760" cy="3291480"/>
          </a:xfrm>
          <a:prstGeom prst="roundRect">
            <a:avLst>
              <a:gd name="adj" fmla="val 7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3346560" y="1828800"/>
            <a:ext cx="2669760" cy="820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3566160" y="2103120"/>
            <a:ext cx="223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87171"/>
                </a:solidFill>
                <a:latin typeface="Segoe UI"/>
              </a:rPr>
              <a:t>02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3566160" y="2697480"/>
            <a:ext cx="2230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f1f5f9"/>
                </a:solidFill>
                <a:latin typeface="Segoe UI"/>
              </a:rPr>
              <a:t>Parse messy counts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3566160" y="3429000"/>
            <a:ext cx="22309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Values like '2,400,00' or '53;000' become real numbers you can sum and rank.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6144840" y="1828800"/>
            <a:ext cx="2669760" cy="3291480"/>
          </a:xfrm>
          <a:prstGeom prst="roundRect">
            <a:avLst>
              <a:gd name="adj" fmla="val 7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ounded Rectangle 16"/>
          <p:cNvSpPr/>
          <p:nvPr/>
        </p:nvSpPr>
        <p:spPr>
          <a:xfrm>
            <a:off x="6144840" y="1828800"/>
            <a:ext cx="2669760" cy="8208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6364080" y="2103120"/>
            <a:ext cx="223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97316"/>
                </a:solidFill>
                <a:latin typeface="Segoe UI"/>
              </a:rPr>
              <a:t>03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6364080" y="2697480"/>
            <a:ext cx="223092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f1f5f9"/>
                </a:solidFill>
                <a:latin typeface="Segoe UI"/>
              </a:rPr>
              <a:t>Map the sensitivity scale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6364080" y="3429000"/>
            <a:ext cx="2230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1 → 'email / online info' … 5 → 'full details' become readable labels.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20"/>
          <p:cNvSpPr/>
          <p:nvPr/>
        </p:nvSpPr>
        <p:spPr>
          <a:xfrm>
            <a:off x="8942760" y="1828800"/>
            <a:ext cx="2669760" cy="3291480"/>
          </a:xfrm>
          <a:prstGeom prst="roundRect">
            <a:avLst>
              <a:gd name="adj" fmla="val 7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ounded Rectangle 21"/>
          <p:cNvSpPr/>
          <p:nvPr/>
        </p:nvSpPr>
        <p:spPr>
          <a:xfrm>
            <a:off x="8942760" y="1828800"/>
            <a:ext cx="2669760" cy="820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2"/>
          <p:cNvSpPr/>
          <p:nvPr/>
        </p:nvSpPr>
        <p:spPr>
          <a:xfrm>
            <a:off x="9162360" y="2103120"/>
            <a:ext cx="223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a78bfa"/>
                </a:solidFill>
                <a:latin typeface="Segoe UI"/>
              </a:rPr>
              <a:t>04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3"/>
          <p:cNvSpPr/>
          <p:nvPr/>
        </p:nvSpPr>
        <p:spPr>
          <a:xfrm>
            <a:off x="9162360" y="2697480"/>
            <a:ext cx="223092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f1f5f9"/>
                </a:solidFill>
                <a:latin typeface="Segoe UI"/>
              </a:rPr>
              <a:t>One shared filter lens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4"/>
          <p:cNvSpPr/>
          <p:nvPr/>
        </p:nvSpPr>
        <p:spPr>
          <a:xfrm>
            <a:off x="9162360" y="3429000"/>
            <a:ext cx="2230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Year, sector, method and sensitivity filters persist across every page.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5"/>
          <p:cNvSpPr/>
          <p:nvPr/>
        </p:nvSpPr>
        <p:spPr>
          <a:xfrm>
            <a:off x="548640" y="5486400"/>
            <a:ext cx="1106388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1400" spc="-1" strike="noStrike">
                <a:solidFill>
                  <a:srgbClr val="f1f5f9"/>
                </a:solidFill>
                <a:latin typeface="Segoe UI"/>
              </a:rPr>
              <a:t>Why it matters: </a:t>
            </a:r>
            <a:r>
              <a:rPr b="0" lang="en-US" sz="1400" spc="-1" strike="noStrike">
                <a:solidFill>
                  <a:srgbClr val="9ca9bd"/>
                </a:solidFill>
                <a:latin typeface="Segoe UI"/>
              </a:rPr>
              <a:t>every chart in the dashboard answers the same question against the same cleaned, filtered subset of data — your sidebar selections travel with you from page to page.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6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THE APPROACH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One page, one question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9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150" name="Rounded Rectangle 5"/>
          <p:cNvSpPr/>
          <p:nvPr/>
        </p:nvSpPr>
        <p:spPr>
          <a:xfrm>
            <a:off x="548640" y="155448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749880" y="166428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Data Breaches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749880" y="200268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The headline numbers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ounded Rectangle 8"/>
          <p:cNvSpPr/>
          <p:nvPr/>
        </p:nvSpPr>
        <p:spPr>
          <a:xfrm>
            <a:off x="4069080" y="181980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4069080" y="18946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KPIs + timeline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ounded Rectangle 10"/>
          <p:cNvSpPr/>
          <p:nvPr/>
        </p:nvSpPr>
        <p:spPr>
          <a:xfrm>
            <a:off x="548640" y="252360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749880" y="263340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Sector Analysis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749880" y="297180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Where do breaches cluster?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13"/>
          <p:cNvSpPr/>
          <p:nvPr/>
        </p:nvSpPr>
        <p:spPr>
          <a:xfrm>
            <a:off x="4069080" y="278892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14"/>
          <p:cNvSpPr/>
          <p:nvPr/>
        </p:nvSpPr>
        <p:spPr>
          <a:xfrm>
            <a:off x="4069080" y="28638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Bar + treemap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5"/>
          <p:cNvSpPr/>
          <p:nvPr/>
        </p:nvSpPr>
        <p:spPr>
          <a:xfrm>
            <a:off x="548640" y="349308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6"/>
          <p:cNvSpPr/>
          <p:nvPr/>
        </p:nvSpPr>
        <p:spPr>
          <a:xfrm>
            <a:off x="749880" y="360288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Method × Sector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7"/>
          <p:cNvSpPr/>
          <p:nvPr/>
        </p:nvSpPr>
        <p:spPr>
          <a:xfrm>
            <a:off x="749880" y="394092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Do methods hit sectors differently?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ounded Rectangle 18"/>
          <p:cNvSpPr/>
          <p:nvPr/>
        </p:nvSpPr>
        <p:spPr>
          <a:xfrm>
            <a:off x="4069080" y="375804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9"/>
          <p:cNvSpPr/>
          <p:nvPr/>
        </p:nvSpPr>
        <p:spPr>
          <a:xfrm>
            <a:off x="4069080" y="38332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Heatmap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20"/>
          <p:cNvSpPr/>
          <p:nvPr/>
        </p:nvSpPr>
        <p:spPr>
          <a:xfrm>
            <a:off x="548640" y="446220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21"/>
          <p:cNvSpPr/>
          <p:nvPr/>
        </p:nvSpPr>
        <p:spPr>
          <a:xfrm>
            <a:off x="749880" y="457200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Source Analysis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22"/>
          <p:cNvSpPr/>
          <p:nvPr/>
        </p:nvSpPr>
        <p:spPr>
          <a:xfrm>
            <a:off x="749880" y="491040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How reliable is the reporting?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23"/>
          <p:cNvSpPr/>
          <p:nvPr/>
        </p:nvSpPr>
        <p:spPr>
          <a:xfrm>
            <a:off x="4069080" y="472752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4"/>
          <p:cNvSpPr/>
          <p:nvPr/>
        </p:nvSpPr>
        <p:spPr>
          <a:xfrm>
            <a:off x="4069080" y="48024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Ranking + scatter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25"/>
          <p:cNvSpPr/>
          <p:nvPr/>
        </p:nvSpPr>
        <p:spPr>
          <a:xfrm>
            <a:off x="548640" y="543168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26"/>
          <p:cNvSpPr/>
          <p:nvPr/>
        </p:nvSpPr>
        <p:spPr>
          <a:xfrm>
            <a:off x="749880" y="554112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Interesting Stories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27"/>
          <p:cNvSpPr/>
          <p:nvPr/>
        </p:nvSpPr>
        <p:spPr>
          <a:xfrm>
            <a:off x="749880" y="587952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Do notable breaches track the biggest?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28"/>
          <p:cNvSpPr/>
          <p:nvPr/>
        </p:nvSpPr>
        <p:spPr>
          <a:xfrm>
            <a:off x="4069080" y="569664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29"/>
          <p:cNvSpPr/>
          <p:nvPr/>
        </p:nvSpPr>
        <p:spPr>
          <a:xfrm>
            <a:off x="4069080" y="57715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Time series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30"/>
          <p:cNvSpPr/>
          <p:nvPr/>
        </p:nvSpPr>
        <p:spPr>
          <a:xfrm>
            <a:off x="6309360" y="155448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31"/>
          <p:cNvSpPr/>
          <p:nvPr/>
        </p:nvSpPr>
        <p:spPr>
          <a:xfrm>
            <a:off x="6510600" y="166428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Repeat Offenders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32"/>
          <p:cNvSpPr/>
          <p:nvPr/>
        </p:nvSpPr>
        <p:spPr>
          <a:xfrm>
            <a:off x="6510600" y="200268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Who keeps getting hit?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33"/>
          <p:cNvSpPr/>
          <p:nvPr/>
        </p:nvSpPr>
        <p:spPr>
          <a:xfrm>
            <a:off x="9829800" y="181980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34"/>
          <p:cNvSpPr/>
          <p:nvPr/>
        </p:nvSpPr>
        <p:spPr>
          <a:xfrm>
            <a:off x="9829800" y="18946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Multi-breach ranking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35"/>
          <p:cNvSpPr/>
          <p:nvPr/>
        </p:nvSpPr>
        <p:spPr>
          <a:xfrm>
            <a:off x="6309360" y="252360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36"/>
          <p:cNvSpPr/>
          <p:nvPr/>
        </p:nvSpPr>
        <p:spPr>
          <a:xfrm>
            <a:off x="6510600" y="263340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Largest Breaches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37"/>
          <p:cNvSpPr/>
          <p:nvPr/>
        </p:nvSpPr>
        <p:spPr>
          <a:xfrm>
            <a:off x="6510600" y="297180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Which single incidents were enormous?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38"/>
          <p:cNvSpPr/>
          <p:nvPr/>
        </p:nvSpPr>
        <p:spPr>
          <a:xfrm>
            <a:off x="9829800" y="278892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39"/>
          <p:cNvSpPr/>
          <p:nvPr/>
        </p:nvSpPr>
        <p:spPr>
          <a:xfrm>
            <a:off x="9829800" y="28638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Log-scale ranking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40"/>
          <p:cNvSpPr/>
          <p:nvPr/>
        </p:nvSpPr>
        <p:spPr>
          <a:xfrm>
            <a:off x="6309360" y="349308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41"/>
          <p:cNvSpPr/>
          <p:nvPr/>
        </p:nvSpPr>
        <p:spPr>
          <a:xfrm>
            <a:off x="6510600" y="360288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Sensitivity Trend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42"/>
          <p:cNvSpPr/>
          <p:nvPr/>
        </p:nvSpPr>
        <p:spPr>
          <a:xfrm>
            <a:off x="6510600" y="394092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Is leaked data getting more sensitive?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43"/>
          <p:cNvSpPr/>
          <p:nvPr/>
        </p:nvSpPr>
        <p:spPr>
          <a:xfrm>
            <a:off x="9829800" y="375804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44"/>
          <p:cNvSpPr/>
          <p:nvPr/>
        </p:nvSpPr>
        <p:spPr>
          <a:xfrm>
            <a:off x="9829800" y="38332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Trend lines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45"/>
          <p:cNvSpPr/>
          <p:nvPr/>
        </p:nvSpPr>
        <p:spPr>
          <a:xfrm>
            <a:off x="6309360" y="4462200"/>
            <a:ext cx="5440320" cy="85932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46"/>
          <p:cNvSpPr/>
          <p:nvPr/>
        </p:nvSpPr>
        <p:spPr>
          <a:xfrm>
            <a:off x="6510600" y="4572000"/>
            <a:ext cx="374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f1f5f9"/>
                </a:solidFill>
                <a:latin typeface="Segoe UI"/>
              </a:rPr>
              <a:t>Country Analysis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47"/>
          <p:cNvSpPr/>
          <p:nvPr/>
        </p:nvSpPr>
        <p:spPr>
          <a:xfrm>
            <a:off x="6510600" y="4910400"/>
            <a:ext cx="3748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9ca9bd"/>
                </a:solidFill>
                <a:latin typeface="Segoe UI"/>
              </a:rPr>
              <a:t>Which countries are most affected?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48"/>
          <p:cNvSpPr/>
          <p:nvPr/>
        </p:nvSpPr>
        <p:spPr>
          <a:xfrm>
            <a:off x="9829800" y="4727520"/>
            <a:ext cx="18284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49"/>
          <p:cNvSpPr/>
          <p:nvPr/>
        </p:nvSpPr>
        <p:spPr>
          <a:xfrm>
            <a:off x="9829800" y="48024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Choropleth + bars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51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52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INSIGHT · SECTORS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Web is the epicentre of records lost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0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201" name="Rounded Rectangle 5"/>
          <p:cNvSpPr/>
          <p:nvPr/>
        </p:nvSpPr>
        <p:spPr>
          <a:xfrm>
            <a:off x="548640" y="1554480"/>
            <a:ext cx="6766200" cy="42058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822960" y="1755720"/>
            <a:ext cx="6217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TOP SECTORS BY RECORDS LOST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7"/>
          <p:cNvSpPr/>
          <p:nvPr/>
        </p:nvSpPr>
        <p:spPr>
          <a:xfrm>
            <a:off x="822960" y="2353680"/>
            <a:ext cx="2194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Web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ounded Rectangle 8"/>
          <p:cNvSpPr/>
          <p:nvPr/>
        </p:nvSpPr>
        <p:spPr>
          <a:xfrm>
            <a:off x="3017520" y="2353680"/>
            <a:ext cx="2880000" cy="2739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6007680" y="23536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8.2B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0"/>
          <p:cNvSpPr/>
          <p:nvPr/>
        </p:nvSpPr>
        <p:spPr>
          <a:xfrm>
            <a:off x="822960" y="2982600"/>
            <a:ext cx="2194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Government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11"/>
          <p:cNvSpPr/>
          <p:nvPr/>
        </p:nvSpPr>
        <p:spPr>
          <a:xfrm>
            <a:off x="3017520" y="2982600"/>
            <a:ext cx="995400" cy="2739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12"/>
          <p:cNvSpPr/>
          <p:nvPr/>
        </p:nvSpPr>
        <p:spPr>
          <a:xfrm>
            <a:off x="4123080" y="298260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2.8B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822960" y="3611880"/>
            <a:ext cx="2194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Telecoms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ounded Rectangle 14"/>
          <p:cNvSpPr/>
          <p:nvPr/>
        </p:nvSpPr>
        <p:spPr>
          <a:xfrm>
            <a:off x="3017520" y="3611880"/>
            <a:ext cx="716040" cy="2739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15"/>
          <p:cNvSpPr/>
          <p:nvPr/>
        </p:nvSpPr>
        <p:spPr>
          <a:xfrm>
            <a:off x="3843360" y="36118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2.0B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6"/>
          <p:cNvSpPr/>
          <p:nvPr/>
        </p:nvSpPr>
        <p:spPr>
          <a:xfrm>
            <a:off x="822960" y="4241160"/>
            <a:ext cx="2194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Tech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17"/>
          <p:cNvSpPr/>
          <p:nvPr/>
        </p:nvSpPr>
        <p:spPr>
          <a:xfrm>
            <a:off x="3017520" y="4241160"/>
            <a:ext cx="591840" cy="273960"/>
          </a:xfrm>
          <a:prstGeom prst="roundRect">
            <a:avLst>
              <a:gd name="adj" fmla="val 50000"/>
            </a:avLst>
          </a:prstGeom>
          <a:solidFill>
            <a:srgbClr val="fba3a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8"/>
          <p:cNvSpPr/>
          <p:nvPr/>
        </p:nvSpPr>
        <p:spPr>
          <a:xfrm>
            <a:off x="3719520" y="424116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1.7B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9"/>
          <p:cNvSpPr/>
          <p:nvPr/>
        </p:nvSpPr>
        <p:spPr>
          <a:xfrm>
            <a:off x="822960" y="4870080"/>
            <a:ext cx="2194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Finance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20"/>
          <p:cNvSpPr/>
          <p:nvPr/>
        </p:nvSpPr>
        <p:spPr>
          <a:xfrm>
            <a:off x="3017520" y="4870080"/>
            <a:ext cx="430200" cy="273960"/>
          </a:xfrm>
          <a:prstGeom prst="roundRect">
            <a:avLst>
              <a:gd name="adj" fmla="val 50000"/>
            </a:avLst>
          </a:prstGeom>
          <a:solidFill>
            <a:srgbClr val="fdcb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3557880" y="48700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1.2B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22"/>
          <p:cNvSpPr/>
          <p:nvPr/>
        </p:nvSpPr>
        <p:spPr>
          <a:xfrm>
            <a:off x="7589520" y="1554480"/>
            <a:ext cx="4068720" cy="42058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23"/>
          <p:cNvSpPr/>
          <p:nvPr/>
        </p:nvSpPr>
        <p:spPr>
          <a:xfrm>
            <a:off x="7863840" y="1755720"/>
            <a:ext cx="3565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TOP SECTORS BY BREACH COUNT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24"/>
          <p:cNvSpPr/>
          <p:nvPr/>
        </p:nvSpPr>
        <p:spPr>
          <a:xfrm>
            <a:off x="7863840" y="2353680"/>
            <a:ext cx="118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Web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25"/>
          <p:cNvSpPr/>
          <p:nvPr/>
        </p:nvSpPr>
        <p:spPr>
          <a:xfrm>
            <a:off x="9052560" y="2353680"/>
            <a:ext cx="1279800" cy="2739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6"/>
          <p:cNvSpPr/>
          <p:nvPr/>
        </p:nvSpPr>
        <p:spPr>
          <a:xfrm>
            <a:off x="10442520" y="23536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155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7"/>
          <p:cNvSpPr/>
          <p:nvPr/>
        </p:nvSpPr>
        <p:spPr>
          <a:xfrm>
            <a:off x="7863840" y="2982600"/>
            <a:ext cx="118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Government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ounded Rectangle 28"/>
          <p:cNvSpPr/>
          <p:nvPr/>
        </p:nvSpPr>
        <p:spPr>
          <a:xfrm>
            <a:off x="9052560" y="2982600"/>
            <a:ext cx="519840" cy="2739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29"/>
          <p:cNvSpPr/>
          <p:nvPr/>
        </p:nvSpPr>
        <p:spPr>
          <a:xfrm>
            <a:off x="9682560" y="298260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63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30"/>
          <p:cNvSpPr/>
          <p:nvPr/>
        </p:nvSpPr>
        <p:spPr>
          <a:xfrm>
            <a:off x="7863840" y="3611880"/>
            <a:ext cx="118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Health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31"/>
          <p:cNvSpPr/>
          <p:nvPr/>
        </p:nvSpPr>
        <p:spPr>
          <a:xfrm>
            <a:off x="9052560" y="3611880"/>
            <a:ext cx="503280" cy="2739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32"/>
          <p:cNvSpPr/>
          <p:nvPr/>
        </p:nvSpPr>
        <p:spPr>
          <a:xfrm>
            <a:off x="9666000" y="36118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61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33"/>
          <p:cNvSpPr/>
          <p:nvPr/>
        </p:nvSpPr>
        <p:spPr>
          <a:xfrm>
            <a:off x="7863840" y="4241160"/>
            <a:ext cx="118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Retail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ounded Rectangle 34"/>
          <p:cNvSpPr/>
          <p:nvPr/>
        </p:nvSpPr>
        <p:spPr>
          <a:xfrm>
            <a:off x="9052560" y="4241160"/>
            <a:ext cx="453960" cy="273960"/>
          </a:xfrm>
          <a:prstGeom prst="roundRect">
            <a:avLst>
              <a:gd name="adj" fmla="val 50000"/>
            </a:avLst>
          </a:prstGeom>
          <a:solidFill>
            <a:srgbClr val="fba3a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35"/>
          <p:cNvSpPr/>
          <p:nvPr/>
        </p:nvSpPr>
        <p:spPr>
          <a:xfrm>
            <a:off x="9616680" y="424116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55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7863840" y="4870080"/>
            <a:ext cx="118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Finance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37"/>
          <p:cNvSpPr/>
          <p:nvPr/>
        </p:nvSpPr>
        <p:spPr>
          <a:xfrm>
            <a:off x="9052560" y="4870080"/>
            <a:ext cx="420840" cy="273960"/>
          </a:xfrm>
          <a:prstGeom prst="roundRect">
            <a:avLst>
              <a:gd name="adj" fmla="val 50000"/>
            </a:avLst>
          </a:prstGeom>
          <a:solidFill>
            <a:srgbClr val="fdcb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38"/>
          <p:cNvSpPr/>
          <p:nvPr/>
        </p:nvSpPr>
        <p:spPr>
          <a:xfrm>
            <a:off x="9583560" y="48700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51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39"/>
          <p:cNvSpPr/>
          <p:nvPr/>
        </p:nvSpPr>
        <p:spPr>
          <a:xfrm>
            <a:off x="548640" y="5943600"/>
            <a:ext cx="11109600" cy="365400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40"/>
          <p:cNvSpPr/>
          <p:nvPr/>
        </p:nvSpPr>
        <p:spPr>
          <a:xfrm>
            <a:off x="822960" y="6026760"/>
            <a:ext cx="106066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bbf24"/>
                </a:solidFill>
                <a:latin typeface="Segoe UI"/>
              </a:rPr>
              <a:t>Web leads both tables: 8.2B records lost and 155 of the 539 tracked breaches.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41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42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INSIGHT · METHODS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Hacking accounts for 7 in 10 breaches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2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243" name="Rounded Rectangle 5"/>
          <p:cNvSpPr/>
          <p:nvPr/>
        </p:nvSpPr>
        <p:spPr>
          <a:xfrm>
            <a:off x="548640" y="1554480"/>
            <a:ext cx="6583320" cy="42058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6"/>
          <p:cNvSpPr/>
          <p:nvPr/>
        </p:nvSpPr>
        <p:spPr>
          <a:xfrm>
            <a:off x="822960" y="1755720"/>
            <a:ext cx="6034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SHARE OF ALL TRACKED BREACHES (%)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822960" y="2353680"/>
            <a:ext cx="1828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Hacked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8"/>
          <p:cNvSpPr/>
          <p:nvPr/>
        </p:nvSpPr>
        <p:spPr>
          <a:xfrm>
            <a:off x="2651760" y="2353680"/>
            <a:ext cx="3062880" cy="2739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9"/>
          <p:cNvSpPr/>
          <p:nvPr/>
        </p:nvSpPr>
        <p:spPr>
          <a:xfrm>
            <a:off x="5824800" y="23536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70%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0"/>
          <p:cNvSpPr/>
          <p:nvPr/>
        </p:nvSpPr>
        <p:spPr>
          <a:xfrm>
            <a:off x="822960" y="2982600"/>
            <a:ext cx="1828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Poor security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ounded Rectangle 11"/>
          <p:cNvSpPr/>
          <p:nvPr/>
        </p:nvSpPr>
        <p:spPr>
          <a:xfrm>
            <a:off x="2651760" y="2982600"/>
            <a:ext cx="508680" cy="2739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3270600" y="298260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12%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3"/>
          <p:cNvSpPr/>
          <p:nvPr/>
        </p:nvSpPr>
        <p:spPr>
          <a:xfrm>
            <a:off x="822960" y="3611880"/>
            <a:ext cx="1828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Lost device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ounded Rectangle 14"/>
          <p:cNvSpPr/>
          <p:nvPr/>
        </p:nvSpPr>
        <p:spPr>
          <a:xfrm>
            <a:off x="2651760" y="3611880"/>
            <a:ext cx="387000" cy="273960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5"/>
          <p:cNvSpPr/>
          <p:nvPr/>
        </p:nvSpPr>
        <p:spPr>
          <a:xfrm>
            <a:off x="3148920" y="36118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9%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6"/>
          <p:cNvSpPr/>
          <p:nvPr/>
        </p:nvSpPr>
        <p:spPr>
          <a:xfrm>
            <a:off x="822960" y="4241160"/>
            <a:ext cx="1828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Oops!  (accidental)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ounded Rectangle 17"/>
          <p:cNvSpPr/>
          <p:nvPr/>
        </p:nvSpPr>
        <p:spPr>
          <a:xfrm>
            <a:off x="2651760" y="4241160"/>
            <a:ext cx="217080" cy="273960"/>
          </a:xfrm>
          <a:prstGeom prst="roundRect">
            <a:avLst>
              <a:gd name="adj" fmla="val 50000"/>
            </a:avLst>
          </a:prstGeom>
          <a:solidFill>
            <a:srgbClr val="fed7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18"/>
          <p:cNvSpPr/>
          <p:nvPr/>
        </p:nvSpPr>
        <p:spPr>
          <a:xfrm>
            <a:off x="2979000" y="424116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5%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19"/>
          <p:cNvSpPr/>
          <p:nvPr/>
        </p:nvSpPr>
        <p:spPr>
          <a:xfrm>
            <a:off x="822960" y="4870080"/>
            <a:ext cx="1828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Inside job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ounded Rectangle 20"/>
          <p:cNvSpPr/>
          <p:nvPr/>
        </p:nvSpPr>
        <p:spPr>
          <a:xfrm>
            <a:off x="2651760" y="4870080"/>
            <a:ext cx="178200" cy="27396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21"/>
          <p:cNvSpPr/>
          <p:nvPr/>
        </p:nvSpPr>
        <p:spPr>
          <a:xfrm>
            <a:off x="2939760" y="48700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4%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22"/>
          <p:cNvSpPr/>
          <p:nvPr/>
        </p:nvSpPr>
        <p:spPr>
          <a:xfrm>
            <a:off x="7452360" y="1737360"/>
            <a:ext cx="42058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87171"/>
                </a:solidFill>
                <a:latin typeface="Segoe UI"/>
              </a:rPr>
              <a:t>70%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3"/>
          <p:cNvSpPr/>
          <p:nvPr/>
        </p:nvSpPr>
        <p:spPr>
          <a:xfrm>
            <a:off x="7498080" y="2834640"/>
            <a:ext cx="411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f1f5f9"/>
                </a:solidFill>
                <a:latin typeface="Segoe UI"/>
              </a:rPr>
              <a:t>'HACKED' is the single dominant cause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24"/>
          <p:cNvSpPr/>
          <p:nvPr/>
        </p:nvSpPr>
        <p:spPr>
          <a:xfrm>
            <a:off x="7498080" y="3246120"/>
            <a:ext cx="4160160" cy="131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300" spc="-1" strike="noStrike">
                <a:solidFill>
                  <a:srgbClr val="f1f5f9"/>
                </a:solidFill>
                <a:latin typeface="Segoe UI"/>
              </a:rPr>
              <a:t>External attacks dwarf all other causes. </a:t>
            </a: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Poor security</a:t>
            </a:r>
            <a:r>
              <a:rPr b="0" lang="en-US" sz="1300" spc="-1" strike="noStrike">
                <a:solidFill>
                  <a:srgbClr val="f1f5f9"/>
                </a:solidFill>
                <a:latin typeface="Segoe UI"/>
              </a:rPr>
              <a:t> and </a:t>
            </a: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lost devices</a:t>
            </a:r>
            <a:r>
              <a:rPr b="0" lang="en-US" sz="1300" spc="-1" strike="noStrike">
                <a:solidFill>
                  <a:srgbClr val="f1f5f9"/>
                </a:solidFill>
                <a:latin typeface="Segoe UI"/>
              </a:rPr>
              <a:t> come next but trail far behind.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0" lang="en-US" sz="700" spc="-1" strike="noStrike">
                <a:solidFill>
                  <a:srgbClr val="f1f5f9"/>
                </a:solidFill>
                <a:latin typeface="Segoe UI"/>
              </a:rPr>
              <a:t> 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0" lang="en-US" sz="1300" spc="-1" strike="noStrike">
                <a:solidFill>
                  <a:srgbClr val="9ca9bd"/>
                </a:solidFill>
                <a:latin typeface="Segoe UI"/>
              </a:rPr>
              <a:t>Method × Sector analysis shows this mix shifts by industry. Finance skews to inside jobs, web is almost entirely hacked.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25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26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INSIGHT · LARGEST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The top-20 breaches start at 250M records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8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269" name="Rounded Rectangle 5"/>
          <p:cNvSpPr/>
          <p:nvPr/>
        </p:nvSpPr>
        <p:spPr>
          <a:xfrm>
            <a:off x="548640" y="1554480"/>
            <a:ext cx="7497720" cy="41601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822960" y="1755720"/>
            <a:ext cx="6949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LARGEST SINGLE BREACHES BY RECORDS LOST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7"/>
          <p:cNvSpPr/>
          <p:nvPr/>
        </p:nvSpPr>
        <p:spPr>
          <a:xfrm>
            <a:off x="822960" y="2353680"/>
            <a:ext cx="2834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National Public Data · 2024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ounded Rectangle 8"/>
          <p:cNvSpPr/>
          <p:nvPr/>
        </p:nvSpPr>
        <p:spPr>
          <a:xfrm>
            <a:off x="3657600" y="2353680"/>
            <a:ext cx="2971440" cy="2739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9"/>
          <p:cNvSpPr/>
          <p:nvPr/>
        </p:nvSpPr>
        <p:spPr>
          <a:xfrm>
            <a:off x="6739200" y="23536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1.0B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10"/>
          <p:cNvSpPr/>
          <p:nvPr/>
        </p:nvSpPr>
        <p:spPr>
          <a:xfrm>
            <a:off x="822960" y="2982600"/>
            <a:ext cx="2834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Indonesian SIM cards · 2022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ounded Rectangle 11"/>
          <p:cNvSpPr/>
          <p:nvPr/>
        </p:nvSpPr>
        <p:spPr>
          <a:xfrm>
            <a:off x="3657600" y="2982600"/>
            <a:ext cx="2971440" cy="2739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12"/>
          <p:cNvSpPr/>
          <p:nvPr/>
        </p:nvSpPr>
        <p:spPr>
          <a:xfrm>
            <a:off x="6739200" y="298260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1.0B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13"/>
          <p:cNvSpPr/>
          <p:nvPr/>
        </p:nvSpPr>
        <p:spPr>
          <a:xfrm>
            <a:off x="822960" y="3611880"/>
            <a:ext cx="2834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LinkedIn · 2021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ounded Rectangle 14"/>
          <p:cNvSpPr/>
          <p:nvPr/>
        </p:nvSpPr>
        <p:spPr>
          <a:xfrm>
            <a:off x="3657600" y="3611880"/>
            <a:ext cx="2080080" cy="2739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15"/>
          <p:cNvSpPr/>
          <p:nvPr/>
        </p:nvSpPr>
        <p:spPr>
          <a:xfrm>
            <a:off x="5847480" y="36118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700M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16"/>
          <p:cNvSpPr/>
          <p:nvPr/>
        </p:nvSpPr>
        <p:spPr>
          <a:xfrm>
            <a:off x="822960" y="4241160"/>
            <a:ext cx="2834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Ticketmaster · 2024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ounded Rectangle 17"/>
          <p:cNvSpPr/>
          <p:nvPr/>
        </p:nvSpPr>
        <p:spPr>
          <a:xfrm>
            <a:off x="3657600" y="4241160"/>
            <a:ext cx="1663920" cy="273960"/>
          </a:xfrm>
          <a:prstGeom prst="roundRect">
            <a:avLst>
              <a:gd name="adj" fmla="val 50000"/>
            </a:avLst>
          </a:prstGeom>
          <a:solidFill>
            <a:srgbClr val="fba3a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18"/>
          <p:cNvSpPr/>
          <p:nvPr/>
        </p:nvSpPr>
        <p:spPr>
          <a:xfrm>
            <a:off x="5431680" y="424116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560M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19"/>
          <p:cNvSpPr/>
          <p:nvPr/>
        </p:nvSpPr>
        <p:spPr>
          <a:xfrm>
            <a:off x="822960" y="4870080"/>
            <a:ext cx="2834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Yahoo · 2013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ounded Rectangle 20"/>
          <p:cNvSpPr/>
          <p:nvPr/>
        </p:nvSpPr>
        <p:spPr>
          <a:xfrm>
            <a:off x="3657600" y="4870080"/>
            <a:ext cx="1634040" cy="273960"/>
          </a:xfrm>
          <a:prstGeom prst="roundRect">
            <a:avLst>
              <a:gd name="adj" fmla="val 50000"/>
            </a:avLst>
          </a:prstGeom>
          <a:solidFill>
            <a:srgbClr val="fdcb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21"/>
          <p:cNvSpPr/>
          <p:nvPr/>
        </p:nvSpPr>
        <p:spPr>
          <a:xfrm>
            <a:off x="5401800" y="487008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550M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22"/>
          <p:cNvSpPr/>
          <p:nvPr/>
        </p:nvSpPr>
        <p:spPr>
          <a:xfrm>
            <a:off x="8321040" y="1737360"/>
            <a:ext cx="3382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TOP-20 STATS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ounded Rectangle 23"/>
          <p:cNvSpPr/>
          <p:nvPr/>
        </p:nvSpPr>
        <p:spPr>
          <a:xfrm>
            <a:off x="8321040" y="2148840"/>
            <a:ext cx="3291480" cy="105120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Rounded Rectangle 24"/>
          <p:cNvSpPr/>
          <p:nvPr/>
        </p:nvSpPr>
        <p:spPr>
          <a:xfrm>
            <a:off x="8321040" y="2148840"/>
            <a:ext cx="63720" cy="1051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25"/>
          <p:cNvSpPr/>
          <p:nvPr/>
        </p:nvSpPr>
        <p:spPr>
          <a:xfrm>
            <a:off x="8558640" y="2295000"/>
            <a:ext cx="29073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1f5f9"/>
                </a:solidFill>
                <a:latin typeface="Segoe UI"/>
              </a:rPr>
              <a:t>1.0B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26"/>
          <p:cNvSpPr/>
          <p:nvPr/>
        </p:nvSpPr>
        <p:spPr>
          <a:xfrm>
            <a:off x="8558640" y="2788920"/>
            <a:ext cx="290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9ca9bd"/>
                </a:solidFill>
                <a:latin typeface="Segoe UI"/>
              </a:rPr>
              <a:t>LARGEST SINGLE BREACH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27"/>
          <p:cNvSpPr/>
          <p:nvPr/>
        </p:nvSpPr>
        <p:spPr>
          <a:xfrm>
            <a:off x="8558640" y="2961000"/>
            <a:ext cx="290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f4444"/>
                </a:solidFill>
                <a:latin typeface="Segoe UI"/>
              </a:rPr>
              <a:t>National Public 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ounded Rectangle 28"/>
          <p:cNvSpPr/>
          <p:nvPr/>
        </p:nvSpPr>
        <p:spPr>
          <a:xfrm>
            <a:off x="8321040" y="3337560"/>
            <a:ext cx="3291480" cy="105120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Rounded Rectangle 29"/>
          <p:cNvSpPr/>
          <p:nvPr/>
        </p:nvSpPr>
        <p:spPr>
          <a:xfrm>
            <a:off x="8321040" y="3337560"/>
            <a:ext cx="63720" cy="1051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30"/>
          <p:cNvSpPr/>
          <p:nvPr/>
        </p:nvSpPr>
        <p:spPr>
          <a:xfrm>
            <a:off x="8558640" y="3483720"/>
            <a:ext cx="29073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1f5f9"/>
                </a:solidFill>
                <a:latin typeface="Segoe UI"/>
              </a:rPr>
              <a:t>500M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31"/>
          <p:cNvSpPr/>
          <p:nvPr/>
        </p:nvSpPr>
        <p:spPr>
          <a:xfrm>
            <a:off x="8558640" y="3977640"/>
            <a:ext cx="290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9ca9bd"/>
                </a:solidFill>
                <a:latin typeface="Segoe UI"/>
              </a:rPr>
              <a:t>MEDIAN OF TOP 20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32"/>
          <p:cNvSpPr/>
          <p:nvPr/>
        </p:nvSpPr>
        <p:spPr>
          <a:xfrm>
            <a:off x="8558640" y="4149720"/>
            <a:ext cx="290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97316"/>
                </a:solidFill>
                <a:latin typeface="Segoe UI"/>
              </a:rPr>
              <a:t>half the biggest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ounded Rectangle 33"/>
          <p:cNvSpPr/>
          <p:nvPr/>
        </p:nvSpPr>
        <p:spPr>
          <a:xfrm>
            <a:off x="8321040" y="4526280"/>
            <a:ext cx="3291480" cy="105120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ounded Rectangle 34"/>
          <p:cNvSpPr/>
          <p:nvPr/>
        </p:nvSpPr>
        <p:spPr>
          <a:xfrm>
            <a:off x="8321040" y="4526280"/>
            <a:ext cx="63720" cy="1051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35"/>
          <p:cNvSpPr/>
          <p:nvPr/>
        </p:nvSpPr>
        <p:spPr>
          <a:xfrm>
            <a:off x="8558640" y="4672440"/>
            <a:ext cx="29073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1f5f9"/>
                </a:solidFill>
                <a:latin typeface="Segoe UI"/>
              </a:rPr>
              <a:t>250M+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36"/>
          <p:cNvSpPr/>
          <p:nvPr/>
        </p:nvSpPr>
        <p:spPr>
          <a:xfrm>
            <a:off x="8558640" y="5166360"/>
            <a:ext cx="290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9ca9bd"/>
                </a:solidFill>
                <a:latin typeface="Segoe UI"/>
              </a:rPr>
              <a:t>SMALLEST IN TOP 20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37"/>
          <p:cNvSpPr/>
          <p:nvPr/>
        </p:nvSpPr>
        <p:spPr>
          <a:xfrm>
            <a:off x="8558640" y="5338440"/>
            <a:ext cx="290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bbf24"/>
                </a:solidFill>
                <a:latin typeface="Segoe UI"/>
              </a:rPr>
              <a:t>the entry bar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ounded Rectangle 38"/>
          <p:cNvSpPr/>
          <p:nvPr/>
        </p:nvSpPr>
        <p:spPr>
          <a:xfrm>
            <a:off x="548640" y="5943600"/>
            <a:ext cx="11109600" cy="365400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39"/>
          <p:cNvSpPr/>
          <p:nvPr/>
        </p:nvSpPr>
        <p:spPr>
          <a:xfrm>
            <a:off x="822960" y="6026760"/>
            <a:ext cx="106066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bbf24"/>
                </a:solidFill>
                <a:latin typeface="Segoe UI"/>
              </a:rPr>
              <a:t>The two largest recorded breaches (1B each) happened within the last 4 years.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40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41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07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INSIGHT · REPEAT OFFENDERS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23 organizations appear more than once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9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310" name="Rounded Rectangle 5"/>
          <p:cNvSpPr/>
          <p:nvPr/>
        </p:nvSpPr>
        <p:spPr>
          <a:xfrm>
            <a:off x="548640" y="1554480"/>
            <a:ext cx="7497720" cy="41601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822960" y="1755720"/>
            <a:ext cx="6949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REPEAT OFFENDERS · CUMULATIVE RECORDS LOST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7"/>
          <p:cNvSpPr/>
          <p:nvPr/>
        </p:nvSpPr>
        <p:spPr>
          <a:xfrm>
            <a:off x="822960" y="22402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822960" y="234648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Yahoo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ounded Rectangle 9"/>
          <p:cNvSpPr/>
          <p:nvPr/>
        </p:nvSpPr>
        <p:spPr>
          <a:xfrm>
            <a:off x="2240280" y="2346480"/>
            <a:ext cx="502560" cy="3106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0"/>
          <p:cNvSpPr/>
          <p:nvPr/>
        </p:nvSpPr>
        <p:spPr>
          <a:xfrm>
            <a:off x="2240280" y="2421360"/>
            <a:ext cx="5025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3×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Rounded Rectangle 11"/>
          <p:cNvSpPr/>
          <p:nvPr/>
        </p:nvSpPr>
        <p:spPr>
          <a:xfrm>
            <a:off x="3063240" y="2346480"/>
            <a:ext cx="2651400" cy="2739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12"/>
          <p:cNvSpPr/>
          <p:nvPr/>
        </p:nvSpPr>
        <p:spPr>
          <a:xfrm>
            <a:off x="5824800" y="2346480"/>
            <a:ext cx="1279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1.08B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13"/>
          <p:cNvSpPr/>
          <p:nvPr/>
        </p:nvSpPr>
        <p:spPr>
          <a:xfrm>
            <a:off x="822960" y="297900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Facebook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ounded Rectangle 14"/>
          <p:cNvSpPr/>
          <p:nvPr/>
        </p:nvSpPr>
        <p:spPr>
          <a:xfrm>
            <a:off x="2240280" y="2979000"/>
            <a:ext cx="502560" cy="3106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TextBox 15"/>
          <p:cNvSpPr/>
          <p:nvPr/>
        </p:nvSpPr>
        <p:spPr>
          <a:xfrm>
            <a:off x="2240280" y="3054240"/>
            <a:ext cx="5025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5×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Rounded Rectangle 16"/>
          <p:cNvSpPr/>
          <p:nvPr/>
        </p:nvSpPr>
        <p:spPr>
          <a:xfrm>
            <a:off x="3063240" y="2979000"/>
            <a:ext cx="2541240" cy="2739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17"/>
          <p:cNvSpPr/>
          <p:nvPr/>
        </p:nvSpPr>
        <p:spPr>
          <a:xfrm>
            <a:off x="5714280" y="2979000"/>
            <a:ext cx="1279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1.04B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18"/>
          <p:cNvSpPr/>
          <p:nvPr/>
        </p:nvSpPr>
        <p:spPr>
          <a:xfrm>
            <a:off x="822960" y="361188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Ticketmaster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ounded Rectangle 19"/>
          <p:cNvSpPr/>
          <p:nvPr/>
        </p:nvSpPr>
        <p:spPr>
          <a:xfrm>
            <a:off x="2240280" y="3611880"/>
            <a:ext cx="502560" cy="3106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20"/>
          <p:cNvSpPr/>
          <p:nvPr/>
        </p:nvSpPr>
        <p:spPr>
          <a:xfrm>
            <a:off x="2240280" y="3686760"/>
            <a:ext cx="5025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2×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ounded Rectangle 21"/>
          <p:cNvSpPr/>
          <p:nvPr/>
        </p:nvSpPr>
        <p:spPr>
          <a:xfrm>
            <a:off x="3063240" y="3611880"/>
            <a:ext cx="1372320" cy="2739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22"/>
          <p:cNvSpPr/>
          <p:nvPr/>
        </p:nvSpPr>
        <p:spPr>
          <a:xfrm>
            <a:off x="4545360" y="3611880"/>
            <a:ext cx="1279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0.56B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23"/>
          <p:cNvSpPr/>
          <p:nvPr/>
        </p:nvSpPr>
        <p:spPr>
          <a:xfrm>
            <a:off x="822960" y="424476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Twitter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ounded Rectangle 24"/>
          <p:cNvSpPr/>
          <p:nvPr/>
        </p:nvSpPr>
        <p:spPr>
          <a:xfrm>
            <a:off x="2240280" y="4244760"/>
            <a:ext cx="502560" cy="3106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25"/>
          <p:cNvSpPr/>
          <p:nvPr/>
        </p:nvSpPr>
        <p:spPr>
          <a:xfrm>
            <a:off x="2240280" y="4319640"/>
            <a:ext cx="5025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4×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ounded Rectangle 26"/>
          <p:cNvSpPr/>
          <p:nvPr/>
        </p:nvSpPr>
        <p:spPr>
          <a:xfrm>
            <a:off x="3063240" y="4244760"/>
            <a:ext cx="1312560" cy="273960"/>
          </a:xfrm>
          <a:prstGeom prst="roundRect">
            <a:avLst>
              <a:gd name="adj" fmla="val 50000"/>
            </a:avLst>
          </a:prstGeom>
          <a:solidFill>
            <a:srgbClr val="fba3a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27"/>
          <p:cNvSpPr/>
          <p:nvPr/>
        </p:nvSpPr>
        <p:spPr>
          <a:xfrm>
            <a:off x="4485600" y="4244760"/>
            <a:ext cx="1279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0.54B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28"/>
          <p:cNvSpPr/>
          <p:nvPr/>
        </p:nvSpPr>
        <p:spPr>
          <a:xfrm>
            <a:off x="822960" y="487728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Microsoft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ounded Rectangle 29"/>
          <p:cNvSpPr/>
          <p:nvPr/>
        </p:nvSpPr>
        <p:spPr>
          <a:xfrm>
            <a:off x="2240280" y="4877280"/>
            <a:ext cx="502560" cy="3106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30"/>
          <p:cNvSpPr/>
          <p:nvPr/>
        </p:nvSpPr>
        <p:spPr>
          <a:xfrm>
            <a:off x="2240280" y="4952520"/>
            <a:ext cx="5025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3×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ounded Rectangle 31"/>
          <p:cNvSpPr/>
          <p:nvPr/>
        </p:nvSpPr>
        <p:spPr>
          <a:xfrm>
            <a:off x="3063240" y="4877280"/>
            <a:ext cx="710280" cy="273960"/>
          </a:xfrm>
          <a:prstGeom prst="roundRect">
            <a:avLst>
              <a:gd name="adj" fmla="val 50000"/>
            </a:avLst>
          </a:prstGeom>
          <a:solidFill>
            <a:srgbClr val="fdcb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32"/>
          <p:cNvSpPr/>
          <p:nvPr/>
        </p:nvSpPr>
        <p:spPr>
          <a:xfrm>
            <a:off x="3883680" y="4877280"/>
            <a:ext cx="1279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0.29B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33"/>
          <p:cNvSpPr/>
          <p:nvPr/>
        </p:nvSpPr>
        <p:spPr>
          <a:xfrm>
            <a:off x="8321040" y="1737360"/>
            <a:ext cx="3382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THE PATTERN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34"/>
          <p:cNvSpPr/>
          <p:nvPr/>
        </p:nvSpPr>
        <p:spPr>
          <a:xfrm>
            <a:off x="8321040" y="2194560"/>
            <a:ext cx="3291480" cy="15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1500" spc="-1" strike="noStrike">
                <a:solidFill>
                  <a:srgbClr val="f1f5f9"/>
                </a:solidFill>
                <a:latin typeface="Segoe UI"/>
              </a:rPr>
              <a:t>Facebook</a:t>
            </a:r>
            <a:r>
              <a:rPr b="0" lang="en-US" sz="1300" spc="-1" strike="noStrike">
                <a:solidFill>
                  <a:srgbClr val="f1f5f9"/>
                </a:solidFill>
                <a:latin typeface="Segoe UI"/>
              </a:rPr>
              <a:t> was breached </a:t>
            </a:r>
            <a:r>
              <a:rPr b="1" lang="en-US" sz="1500" spc="-1" strike="noStrike">
                <a:solidFill>
                  <a:srgbClr val="f87171"/>
                </a:solidFill>
                <a:latin typeface="Segoe UI"/>
              </a:rPr>
              <a:t>5 times</a:t>
            </a:r>
            <a:r>
              <a:rPr b="0" lang="en-US" sz="1300" spc="-1" strike="noStrike">
                <a:solidFill>
                  <a:srgbClr val="9ca9bd"/>
                </a:solidFill>
                <a:latin typeface="Segoe UI"/>
              </a:rPr>
              <a:t>, yet Yahoo lost the most records overall (1.08B across 3 incidents).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0" lang="en-US" sz="700" spc="-1" strike="noStrike">
                <a:solidFill>
                  <a:srgbClr val="f1f5f9"/>
                </a:solidFill>
                <a:latin typeface="Segoe UI"/>
              </a:rPr>
              <a:t> 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0" lang="en-US" sz="1300" spc="-1" strike="noStrike">
                <a:solidFill>
                  <a:srgbClr val="9ca9bd"/>
                </a:solidFill>
                <a:latin typeface="Segoe UI"/>
              </a:rPr>
              <a:t>More breaches don't necessarily mean more records — the repeat-offenders page checks exactly that relationship.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35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36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08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INSIGHT · GEOGRAPHY &amp; SEVERITY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A US-centric story, roughly flat severity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5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346" name="Rounded Rectangle 5"/>
          <p:cNvSpPr/>
          <p:nvPr/>
        </p:nvSpPr>
        <p:spPr>
          <a:xfrm>
            <a:off x="548640" y="1554480"/>
            <a:ext cx="6400440" cy="41601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6"/>
          <p:cNvSpPr/>
          <p:nvPr/>
        </p:nvSpPr>
        <p:spPr>
          <a:xfrm>
            <a:off x="822960" y="1755720"/>
            <a:ext cx="5851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TOP COUNTRIES BY BREACH COUNT*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7"/>
          <p:cNvSpPr/>
          <p:nvPr/>
        </p:nvSpPr>
        <p:spPr>
          <a:xfrm>
            <a:off x="822960" y="2301120"/>
            <a:ext cx="1416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United States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Rounded Rectangle 8"/>
          <p:cNvSpPr/>
          <p:nvPr/>
        </p:nvSpPr>
        <p:spPr>
          <a:xfrm>
            <a:off x="2240280" y="2301120"/>
            <a:ext cx="3382920" cy="2739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9"/>
          <p:cNvSpPr/>
          <p:nvPr/>
        </p:nvSpPr>
        <p:spPr>
          <a:xfrm>
            <a:off x="5733360" y="230112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325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10"/>
          <p:cNvSpPr/>
          <p:nvPr/>
        </p:nvSpPr>
        <p:spPr>
          <a:xfrm>
            <a:off x="822960" y="2825640"/>
            <a:ext cx="1416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United Kingdom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ounded Rectangle 11"/>
          <p:cNvSpPr/>
          <p:nvPr/>
        </p:nvSpPr>
        <p:spPr>
          <a:xfrm>
            <a:off x="2240280" y="2825640"/>
            <a:ext cx="405720" cy="2739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12"/>
          <p:cNvSpPr/>
          <p:nvPr/>
        </p:nvSpPr>
        <p:spPr>
          <a:xfrm>
            <a:off x="2756160" y="282564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39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13"/>
          <p:cNvSpPr/>
          <p:nvPr/>
        </p:nvSpPr>
        <p:spPr>
          <a:xfrm>
            <a:off x="822960" y="3349800"/>
            <a:ext cx="1416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Japan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Rounded Rectangle 14"/>
          <p:cNvSpPr/>
          <p:nvPr/>
        </p:nvSpPr>
        <p:spPr>
          <a:xfrm>
            <a:off x="2240280" y="3349800"/>
            <a:ext cx="207720" cy="2739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6" name="TextBox 15"/>
          <p:cNvSpPr/>
          <p:nvPr/>
        </p:nvSpPr>
        <p:spPr>
          <a:xfrm>
            <a:off x="2558160" y="334980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20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16"/>
          <p:cNvSpPr/>
          <p:nvPr/>
        </p:nvSpPr>
        <p:spPr>
          <a:xfrm>
            <a:off x="822960" y="3873960"/>
            <a:ext cx="1416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Germany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ounded Rectangle 17"/>
          <p:cNvSpPr/>
          <p:nvPr/>
        </p:nvSpPr>
        <p:spPr>
          <a:xfrm>
            <a:off x="2240280" y="3873960"/>
            <a:ext cx="187200" cy="273960"/>
          </a:xfrm>
          <a:prstGeom prst="roundRect">
            <a:avLst>
              <a:gd name="adj" fmla="val 50000"/>
            </a:avLst>
          </a:prstGeom>
          <a:solidFill>
            <a:srgbClr val="fba3a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18"/>
          <p:cNvSpPr/>
          <p:nvPr/>
        </p:nvSpPr>
        <p:spPr>
          <a:xfrm>
            <a:off x="2537280" y="387396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19"/>
          <p:cNvSpPr/>
          <p:nvPr/>
        </p:nvSpPr>
        <p:spPr>
          <a:xfrm>
            <a:off x="822960" y="4398120"/>
            <a:ext cx="1416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France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ounded Rectangle 20"/>
          <p:cNvSpPr/>
          <p:nvPr/>
        </p:nvSpPr>
        <p:spPr>
          <a:xfrm>
            <a:off x="2240280" y="4398120"/>
            <a:ext cx="124560" cy="273960"/>
          </a:xfrm>
          <a:prstGeom prst="roundRect">
            <a:avLst>
              <a:gd name="adj" fmla="val 50000"/>
            </a:avLst>
          </a:prstGeom>
          <a:solidFill>
            <a:srgbClr val="fdcb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21"/>
          <p:cNvSpPr/>
          <p:nvPr/>
        </p:nvSpPr>
        <p:spPr>
          <a:xfrm>
            <a:off x="2475000" y="439812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22"/>
          <p:cNvSpPr/>
          <p:nvPr/>
        </p:nvSpPr>
        <p:spPr>
          <a:xfrm>
            <a:off x="822960" y="4922640"/>
            <a:ext cx="1416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9bd"/>
                </a:solidFill>
                <a:latin typeface="Segoe UI"/>
              </a:rPr>
              <a:t>Canada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ounded Rectangle 23"/>
          <p:cNvSpPr/>
          <p:nvPr/>
        </p:nvSpPr>
        <p:spPr>
          <a:xfrm>
            <a:off x="2240280" y="4922640"/>
            <a:ext cx="124560" cy="2739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TextBox 24"/>
          <p:cNvSpPr/>
          <p:nvPr/>
        </p:nvSpPr>
        <p:spPr>
          <a:xfrm>
            <a:off x="2475000" y="4922640"/>
            <a:ext cx="109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12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25"/>
          <p:cNvSpPr/>
          <p:nvPr/>
        </p:nvSpPr>
        <p:spPr>
          <a:xfrm>
            <a:off x="822960" y="5394960"/>
            <a:ext cx="5851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*country is inferred from the organization's name — the dataset has no location field.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ounded Rectangle 26"/>
          <p:cNvSpPr/>
          <p:nvPr/>
        </p:nvSpPr>
        <p:spPr>
          <a:xfrm>
            <a:off x="7223760" y="1554480"/>
            <a:ext cx="4434480" cy="41601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TextBox 27"/>
          <p:cNvSpPr/>
          <p:nvPr/>
        </p:nvSpPr>
        <p:spPr>
          <a:xfrm>
            <a:off x="7498080" y="1755720"/>
            <a:ext cx="3931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ca9bd"/>
                </a:solidFill>
                <a:latin typeface="Segoe UI"/>
              </a:rPr>
              <a:t>DATA SENSITIVITY (1–5 SCALE)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Rounded Rectangle 28"/>
          <p:cNvSpPr/>
          <p:nvPr/>
        </p:nvSpPr>
        <p:spPr>
          <a:xfrm>
            <a:off x="7635240" y="3330720"/>
            <a:ext cx="566640" cy="1560960"/>
          </a:xfrm>
          <a:prstGeom prst="roundRect">
            <a:avLst>
              <a:gd name="adj" fmla="val 30000"/>
            </a:avLst>
          </a:prstGeom>
          <a:solidFill>
            <a:srgbClr val="fdcb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TextBox 29"/>
          <p:cNvSpPr/>
          <p:nvPr/>
        </p:nvSpPr>
        <p:spPr>
          <a:xfrm>
            <a:off x="7562160" y="3038400"/>
            <a:ext cx="712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1f5f9"/>
                </a:solidFill>
                <a:latin typeface="Segoe UI"/>
              </a:rPr>
              <a:t>149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30"/>
          <p:cNvSpPr/>
          <p:nvPr/>
        </p:nvSpPr>
        <p:spPr>
          <a:xfrm>
            <a:off x="7562160" y="4946760"/>
            <a:ext cx="71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9bd"/>
                </a:solidFill>
                <a:latin typeface="Segoe U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ounded Rectangle 31"/>
          <p:cNvSpPr/>
          <p:nvPr/>
        </p:nvSpPr>
        <p:spPr>
          <a:xfrm>
            <a:off x="8348400" y="2880360"/>
            <a:ext cx="566640" cy="2011320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32"/>
          <p:cNvSpPr/>
          <p:nvPr/>
        </p:nvSpPr>
        <p:spPr>
          <a:xfrm>
            <a:off x="8275320" y="2587680"/>
            <a:ext cx="712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1f5f9"/>
                </a:solidFill>
                <a:latin typeface="Segoe UI"/>
              </a:rPr>
              <a:t>192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33"/>
          <p:cNvSpPr/>
          <p:nvPr/>
        </p:nvSpPr>
        <p:spPr>
          <a:xfrm>
            <a:off x="8275320" y="4946760"/>
            <a:ext cx="71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9bd"/>
                </a:solidFill>
                <a:latin typeface="Segoe U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ounded Rectangle 34"/>
          <p:cNvSpPr/>
          <p:nvPr/>
        </p:nvSpPr>
        <p:spPr>
          <a:xfrm>
            <a:off x="9061560" y="3970080"/>
            <a:ext cx="566640" cy="9216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35"/>
          <p:cNvSpPr/>
          <p:nvPr/>
        </p:nvSpPr>
        <p:spPr>
          <a:xfrm>
            <a:off x="8988480" y="3677400"/>
            <a:ext cx="712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1f5f9"/>
                </a:solidFill>
                <a:latin typeface="Segoe UI"/>
              </a:rPr>
              <a:t>88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36"/>
          <p:cNvSpPr/>
          <p:nvPr/>
        </p:nvSpPr>
        <p:spPr>
          <a:xfrm>
            <a:off x="8988480" y="4946760"/>
            <a:ext cx="71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9bd"/>
                </a:solidFill>
                <a:latin typeface="Segoe U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37"/>
          <p:cNvSpPr/>
          <p:nvPr/>
        </p:nvSpPr>
        <p:spPr>
          <a:xfrm>
            <a:off x="9775080" y="4064400"/>
            <a:ext cx="566640" cy="82728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38"/>
          <p:cNvSpPr/>
          <p:nvPr/>
        </p:nvSpPr>
        <p:spPr>
          <a:xfrm>
            <a:off x="9701640" y="3771720"/>
            <a:ext cx="712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1f5f9"/>
                </a:solidFill>
                <a:latin typeface="Segoe UI"/>
              </a:rPr>
              <a:t>79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39"/>
          <p:cNvSpPr/>
          <p:nvPr/>
        </p:nvSpPr>
        <p:spPr>
          <a:xfrm>
            <a:off x="9701640" y="4946760"/>
            <a:ext cx="71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9bd"/>
                </a:solidFill>
                <a:latin typeface="Segoe U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ounded Rectangle 40"/>
          <p:cNvSpPr/>
          <p:nvPr/>
        </p:nvSpPr>
        <p:spPr>
          <a:xfrm>
            <a:off x="10488240" y="4577760"/>
            <a:ext cx="566640" cy="313920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TextBox 41"/>
          <p:cNvSpPr/>
          <p:nvPr/>
        </p:nvSpPr>
        <p:spPr>
          <a:xfrm>
            <a:off x="10415160" y="4285080"/>
            <a:ext cx="712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1f5f9"/>
                </a:solidFill>
                <a:latin typeface="Segoe UI"/>
              </a:rPr>
              <a:t>30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42"/>
          <p:cNvSpPr/>
          <p:nvPr/>
        </p:nvSpPr>
        <p:spPr>
          <a:xfrm>
            <a:off x="10415160" y="4946760"/>
            <a:ext cx="71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9bd"/>
                </a:solidFill>
                <a:latin typeface="Segoe U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43"/>
          <p:cNvSpPr/>
          <p:nvPr/>
        </p:nvSpPr>
        <p:spPr>
          <a:xfrm>
            <a:off x="7498080" y="5394960"/>
            <a:ext cx="39315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e88"/>
                </a:solidFill>
                <a:latin typeface="Segoe UI"/>
              </a:rPr>
              <a:t>Avg. sensitivity 2.35 / 5 · trend r = +0.06 (flat)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44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45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09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2"/>
          <p:cNvSpPr/>
          <p:nvPr/>
        </p:nvSpPr>
        <p:spPr>
          <a:xfrm>
            <a:off x="548640" y="384120"/>
            <a:ext cx="8686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2dd4bf"/>
                </a:solidFill>
                <a:latin typeface="Segoe UI"/>
              </a:rPr>
              <a:t>LIMITATIONS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3"/>
          <p:cNvSpPr/>
          <p:nvPr/>
        </p:nvSpPr>
        <p:spPr>
          <a:xfrm>
            <a:off x="548640" y="621720"/>
            <a:ext cx="11063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f1f5f9"/>
                </a:solidFill>
                <a:latin typeface="Segoe UI"/>
              </a:rPr>
              <a:t>Honest about what the data can't tell us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0" name="Connector 4"/>
          <p:cNvCxnSpPr/>
          <p:nvPr/>
        </p:nvCxnSpPr>
        <p:spPr>
          <a:xfrm>
            <a:off x="548640" y="1261800"/>
            <a:ext cx="1463400" cy="360"/>
          </a:xfrm>
          <a:prstGeom prst="straightConnector1">
            <a:avLst/>
          </a:prstGeom>
          <a:ln w="38100">
            <a:solidFill>
              <a:srgbClr val="2dd4bf"/>
            </a:solidFill>
            <a:round/>
          </a:ln>
        </p:spPr>
      </p:cxnSp>
      <p:sp>
        <p:nvSpPr>
          <p:cNvPr id="391" name="Rounded Rectangle 5"/>
          <p:cNvSpPr/>
          <p:nvPr/>
        </p:nvSpPr>
        <p:spPr>
          <a:xfrm>
            <a:off x="548640" y="1554480"/>
            <a:ext cx="3584160" cy="178272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Rounded Rectangle 6"/>
          <p:cNvSpPr/>
          <p:nvPr/>
        </p:nvSpPr>
        <p:spPr>
          <a:xfrm>
            <a:off x="548640" y="1554480"/>
            <a:ext cx="63720" cy="178272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TextBox 7"/>
          <p:cNvSpPr/>
          <p:nvPr/>
        </p:nvSpPr>
        <p:spPr>
          <a:xfrm>
            <a:off x="777240" y="1719000"/>
            <a:ext cx="312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1f5f9"/>
                </a:solidFill>
                <a:latin typeface="Segoe UI"/>
              </a:rPr>
              <a:t>Not exhaustive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8"/>
          <p:cNvSpPr/>
          <p:nvPr/>
        </p:nvSpPr>
        <p:spPr>
          <a:xfrm>
            <a:off x="777240" y="2121480"/>
            <a:ext cx="312696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200" spc="-1" strike="noStrike">
                <a:solidFill>
                  <a:srgbClr val="9ca9bd"/>
                </a:solidFill>
                <a:latin typeface="Segoe UI"/>
              </a:rPr>
              <a:t>Only major, publicly-documented incidents appear — small or unreported breaches are invisible.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Rounded Rectangle 9"/>
          <p:cNvSpPr/>
          <p:nvPr/>
        </p:nvSpPr>
        <p:spPr>
          <a:xfrm>
            <a:off x="4316040" y="1554480"/>
            <a:ext cx="3584160" cy="178272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Rounded Rectangle 10"/>
          <p:cNvSpPr/>
          <p:nvPr/>
        </p:nvSpPr>
        <p:spPr>
          <a:xfrm>
            <a:off x="4316040" y="1554480"/>
            <a:ext cx="63720" cy="17827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11"/>
          <p:cNvSpPr/>
          <p:nvPr/>
        </p:nvSpPr>
        <p:spPr>
          <a:xfrm>
            <a:off x="4544640" y="1719000"/>
            <a:ext cx="312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1f5f9"/>
                </a:solidFill>
                <a:latin typeface="Segoe UI"/>
              </a:rPr>
              <a:t>Records are estimates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12"/>
          <p:cNvSpPr/>
          <p:nvPr/>
        </p:nvSpPr>
        <p:spPr>
          <a:xfrm>
            <a:off x="4544640" y="2121480"/>
            <a:ext cx="312696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200" spc="-1" strike="noStrike">
                <a:solidFill>
                  <a:srgbClr val="9ca9bd"/>
                </a:solidFill>
                <a:latin typeface="Segoe UI"/>
              </a:rPr>
              <a:t>'Records lost' is the source's own figure; read it as orders of magnitude, not an exact count.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ounded Rectangle 13"/>
          <p:cNvSpPr/>
          <p:nvPr/>
        </p:nvSpPr>
        <p:spPr>
          <a:xfrm>
            <a:off x="8083440" y="1554480"/>
            <a:ext cx="3584160" cy="178272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Rounded Rectangle 14"/>
          <p:cNvSpPr/>
          <p:nvPr/>
        </p:nvSpPr>
        <p:spPr>
          <a:xfrm>
            <a:off x="8083440" y="1554480"/>
            <a:ext cx="63720" cy="17827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15"/>
          <p:cNvSpPr/>
          <p:nvPr/>
        </p:nvSpPr>
        <p:spPr>
          <a:xfrm>
            <a:off x="8312040" y="1719000"/>
            <a:ext cx="312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1f5f9"/>
                </a:solidFill>
                <a:latin typeface="Segoe UI"/>
              </a:rPr>
              <a:t>Coverage varies by year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16"/>
          <p:cNvSpPr/>
          <p:nvPr/>
        </p:nvSpPr>
        <p:spPr>
          <a:xfrm>
            <a:off x="8312040" y="2121480"/>
            <a:ext cx="312696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200" spc="-1" strike="noStrike">
                <a:solidFill>
                  <a:srgbClr val="9ca9bd"/>
                </a:solidFill>
                <a:latin typeface="Segoe UI"/>
              </a:rPr>
              <a:t>Reporting deepens over time — 2010+ holds 297 of 539 breaches, so early years look quieter.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ounded Rectangle 17"/>
          <p:cNvSpPr/>
          <p:nvPr/>
        </p:nvSpPr>
        <p:spPr>
          <a:xfrm>
            <a:off x="2432160" y="3520440"/>
            <a:ext cx="3584160" cy="178272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Rounded Rectangle 18"/>
          <p:cNvSpPr/>
          <p:nvPr/>
        </p:nvSpPr>
        <p:spPr>
          <a:xfrm>
            <a:off x="2432160" y="3520440"/>
            <a:ext cx="63720" cy="17827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TextBox 19"/>
          <p:cNvSpPr/>
          <p:nvPr/>
        </p:nvSpPr>
        <p:spPr>
          <a:xfrm>
            <a:off x="2660760" y="3684960"/>
            <a:ext cx="312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1f5f9"/>
                </a:solidFill>
                <a:latin typeface="Segoe UI"/>
              </a:rPr>
              <a:t>Inferred geography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20"/>
          <p:cNvSpPr/>
          <p:nvPr/>
        </p:nvSpPr>
        <p:spPr>
          <a:xfrm>
            <a:off x="2660760" y="4087440"/>
            <a:ext cx="312696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200" spc="-1" strike="noStrike">
                <a:solidFill>
                  <a:srgbClr val="9ca9bd"/>
                </a:solidFill>
                <a:latin typeface="Segoe UI"/>
              </a:rPr>
              <a:t>Country Analysis guesses a home country from organization names; it is an approximation by design.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Rounded Rectangle 21"/>
          <p:cNvSpPr/>
          <p:nvPr/>
        </p:nvSpPr>
        <p:spPr>
          <a:xfrm>
            <a:off x="6199560" y="3520440"/>
            <a:ext cx="3584160" cy="178272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 w="12700">
            <a:solidFill>
              <a:srgbClr val="2432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Rounded Rectangle 22"/>
          <p:cNvSpPr/>
          <p:nvPr/>
        </p:nvSpPr>
        <p:spPr>
          <a:xfrm>
            <a:off x="6199560" y="3520440"/>
            <a:ext cx="63720" cy="17827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TextBox 23"/>
          <p:cNvSpPr/>
          <p:nvPr/>
        </p:nvSpPr>
        <p:spPr>
          <a:xfrm>
            <a:off x="6428160" y="3684960"/>
            <a:ext cx="312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1f5f9"/>
                </a:solidFill>
                <a:latin typeface="Segoe UI"/>
              </a:rPr>
              <a:t>Global / Unknown bucket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24"/>
          <p:cNvSpPr/>
          <p:nvPr/>
        </p:nvSpPr>
        <p:spPr>
          <a:xfrm>
            <a:off x="6428160" y="4087440"/>
            <a:ext cx="312696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200" spc="-1" strike="noStrike">
                <a:solidFill>
                  <a:srgbClr val="9ca9bd"/>
                </a:solidFill>
                <a:latin typeface="Segoe UI"/>
              </a:rPr>
              <a:t>Global firms (Facebook, Amazon) and unidentifiable rows are grouped together rather than unassigned.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Box 25"/>
          <p:cNvSpPr/>
          <p:nvPr/>
        </p:nvSpPr>
        <p:spPr>
          <a:xfrm>
            <a:off x="548640" y="5623560"/>
            <a:ext cx="110638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1f5f9"/>
                </a:solidFill>
                <a:latin typeface="Segoe UI"/>
              </a:rPr>
              <a:t>These caveats are stated on the pages themselves — the dashboard prefers stating uncertainty over false precision.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26"/>
          <p:cNvSpPr/>
          <p:nvPr/>
        </p:nvSpPr>
        <p:spPr>
          <a:xfrm>
            <a:off x="548640" y="647388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World's Biggest Data Breaches · dashboard summary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27"/>
          <p:cNvSpPr/>
          <p:nvPr/>
        </p:nvSpPr>
        <p:spPr>
          <a:xfrm>
            <a:off x="10698480" y="6473880"/>
            <a:ext cx="914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e88"/>
                </a:solidFill>
                <a:latin typeface="Segoe UI"/>
              </a:rPr>
              <a:t>10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Rectangle 3"/>
          <p:cNvSpPr/>
          <p:nvPr/>
        </p:nvSpPr>
        <p:spPr>
          <a:xfrm>
            <a:off x="0" y="91440"/>
            <a:ext cx="12191400" cy="4536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TextBox 4"/>
          <p:cNvSpPr/>
          <p:nvPr/>
        </p:nvSpPr>
        <p:spPr>
          <a:xfrm>
            <a:off x="777240" y="1463040"/>
            <a:ext cx="10515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bbf24"/>
                </a:solidFill>
                <a:latin typeface="Segoe UI"/>
              </a:rPr>
              <a:t>THANK YOU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5"/>
          <p:cNvSpPr/>
          <p:nvPr/>
        </p:nvSpPr>
        <p:spPr>
          <a:xfrm>
            <a:off x="777240" y="1874520"/>
            <a:ext cx="1060668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1f5f9"/>
                </a:solidFill>
                <a:latin typeface="Segoe UI"/>
              </a:rPr>
              <a:t>Ask the data a question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9" name="Connector 6"/>
          <p:cNvCxnSpPr/>
          <p:nvPr/>
        </p:nvCxnSpPr>
        <p:spPr>
          <a:xfrm>
            <a:off x="822960" y="3246120"/>
            <a:ext cx="2012040" cy="360"/>
          </a:xfrm>
          <a:prstGeom prst="straightConnector1">
            <a:avLst/>
          </a:prstGeom>
          <a:ln w="44450">
            <a:solidFill>
              <a:srgbClr val="2dd4bf"/>
            </a:solidFill>
            <a:round/>
          </a:ln>
        </p:spPr>
      </p:cxnSp>
      <p:sp>
        <p:nvSpPr>
          <p:cNvPr id="420" name="TextBox 7"/>
          <p:cNvSpPr/>
          <p:nvPr/>
        </p:nvSpPr>
        <p:spPr>
          <a:xfrm>
            <a:off x="777240" y="3520440"/>
            <a:ext cx="102409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700" spc="-1" strike="noStrike">
                <a:solidFill>
                  <a:srgbClr val="9ca9bd"/>
                </a:solidFill>
                <a:latin typeface="Segoe UI"/>
              </a:rPr>
              <a:t>Open the dashboard, pick a page, and drive it with the sidebar filters — year, sector, method and sensitivity follow you everywhere.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ounded Rectangle 8"/>
          <p:cNvSpPr/>
          <p:nvPr/>
        </p:nvSpPr>
        <p:spPr>
          <a:xfrm>
            <a:off x="777240" y="4754880"/>
            <a:ext cx="7988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TextBox 9"/>
          <p:cNvSpPr/>
          <p:nvPr/>
        </p:nvSpPr>
        <p:spPr>
          <a:xfrm>
            <a:off x="777240" y="4829760"/>
            <a:ext cx="7988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Sectors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ounded Rectangle 10"/>
          <p:cNvSpPr/>
          <p:nvPr/>
        </p:nvSpPr>
        <p:spPr>
          <a:xfrm>
            <a:off x="1740960" y="4754880"/>
            <a:ext cx="79884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11"/>
          <p:cNvSpPr/>
          <p:nvPr/>
        </p:nvSpPr>
        <p:spPr>
          <a:xfrm>
            <a:off x="1740960" y="4829760"/>
            <a:ext cx="7988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Methods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ounded Rectangle 12"/>
          <p:cNvSpPr/>
          <p:nvPr/>
        </p:nvSpPr>
        <p:spPr>
          <a:xfrm>
            <a:off x="2704680" y="4754880"/>
            <a:ext cx="94896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13"/>
          <p:cNvSpPr/>
          <p:nvPr/>
        </p:nvSpPr>
        <p:spPr>
          <a:xfrm>
            <a:off x="2704680" y="4829760"/>
            <a:ext cx="9489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Countries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ounded Rectangle 14"/>
          <p:cNvSpPr/>
          <p:nvPr/>
        </p:nvSpPr>
        <p:spPr>
          <a:xfrm>
            <a:off x="3818520" y="4754880"/>
            <a:ext cx="109872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TextBox 15"/>
          <p:cNvSpPr/>
          <p:nvPr/>
        </p:nvSpPr>
        <p:spPr>
          <a:xfrm>
            <a:off x="3818520" y="4829760"/>
            <a:ext cx="109872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Sensitivity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ounded Rectangle 16"/>
          <p:cNvSpPr/>
          <p:nvPr/>
        </p:nvSpPr>
        <p:spPr>
          <a:xfrm>
            <a:off x="5082120" y="4754880"/>
            <a:ext cx="147348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TextBox 17"/>
          <p:cNvSpPr/>
          <p:nvPr/>
        </p:nvSpPr>
        <p:spPr>
          <a:xfrm>
            <a:off x="5082120" y="4829760"/>
            <a:ext cx="14734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Repeat offenders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ounded Rectangle 18"/>
          <p:cNvSpPr/>
          <p:nvPr/>
        </p:nvSpPr>
        <p:spPr>
          <a:xfrm>
            <a:off x="6720840" y="4754880"/>
            <a:ext cx="1698480" cy="310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19"/>
          <p:cNvSpPr/>
          <p:nvPr/>
        </p:nvSpPr>
        <p:spPr>
          <a:xfrm>
            <a:off x="6720840" y="4829760"/>
            <a:ext cx="16984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60a14"/>
                </a:solidFill>
                <a:latin typeface="Segoe UI"/>
              </a:rPr>
              <a:t>Interesting stories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20"/>
          <p:cNvSpPr/>
          <p:nvPr/>
        </p:nvSpPr>
        <p:spPr>
          <a:xfrm>
            <a:off x="777240" y="5806440"/>
            <a:ext cx="10515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e6e88"/>
                </a:solidFill>
                <a:latin typeface="Segoe UI"/>
              </a:rPr>
              <a:t>Built with Streamlit + Plotly · data: Information is Beautiful — World's Biggest Data Breaches &amp; Hacks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2026-07-31T14:35:50Z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